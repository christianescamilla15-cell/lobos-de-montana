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E376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E3765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4572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" y="4572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43584" y="4572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08176" y="4572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4572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4572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6217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6217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43584" y="6217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08176" y="6217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72768" y="6217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37360" y="6217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7863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8992" y="7863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43584" y="7863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08176" y="7863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72768" y="7863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37360" y="7863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9509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9509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43584" y="9509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08176" y="9509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72768" y="9509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37360" y="9509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0" y="45720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65792" y="45720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30384" y="45720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45720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59568" y="45720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24160" y="45720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0" y="47365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65792" y="47365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30384" y="47365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94976" y="47365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59568" y="47365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424160" y="47365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01200" y="49011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65792" y="49011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30384" y="49011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94976" y="49011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59568" y="49011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24160" y="49011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01200" y="50657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765792" y="50657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930384" y="50657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94976" y="50657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59568" y="50657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24160" y="5065776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1E376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89920" y="5303520"/>
            <a:ext cx="2286000" cy="2286000"/>
          </a:xfrm>
          <a:prstGeom prst="ellipse">
            <a:avLst/>
          </a:prstGeom>
          <a:solidFill>
            <a:srgbClr val="1E376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logo-wo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4320"/>
            <a:ext cx="2286000" cy="228600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3200400" y="2743200"/>
            <a:ext cx="576072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0" y="2816352"/>
            <a:ext cx="2103120" cy="2743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0" b="1" i="0">
                <a:solidFill>
                  <a:srgbClr val="FFFFFF"/>
                </a:solidFill>
                <a:latin typeface="Calibri Light"/>
              </a:defRPr>
            </a:pPr>
            <a:r>
              <a:t>LOBOS DE MONTANA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4480560"/>
            <a:ext cx="576072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0" y="4553712"/>
            <a:ext cx="2103120" cy="2743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A9C0DE"/>
                </a:solidFill>
                <a:latin typeface="Calibri"/>
              </a:defRPr>
            </a:pPr>
            <a:r>
              <a:t>Conquista cada sendero — equipo que resiste como tu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1600" y="5486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D3DFE8"/>
                </a:solidFill>
                <a:latin typeface="Calibri"/>
              </a:defRPr>
            </a:pPr>
            <a:r>
              <a:t>Equipo Premium de Senderismo y Montanismo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A9C0DE"/>
                </a:solidFill>
                <a:latin typeface="Calibri"/>
              </a:defRPr>
            </a:pPr>
            <a:r>
              <a:t>Lobos de Montana  |  lobosdemontana.mx  |  Conquista cada sendero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D141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376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04320" y="0"/>
            <a:ext cx="487375" cy="6858000"/>
          </a:xfrm>
          <a:prstGeom prst="rect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" y="9144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" y="22860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" y="36576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" y="50292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9C0DE"/>
                </a:solidFill>
                <a:latin typeface="Calibri Light"/>
              </a:defRPr>
            </a:pPr>
            <a:r>
              <a:t>NUESTRO SLOGAN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058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FFFFF"/>
                </a:solidFill>
                <a:latin typeface="Calibri Light"/>
              </a:defRPr>
            </a:pPr>
            <a:r>
              <a:t>"Conquista cada sendero —</a:t>
            </a:r>
            <a:br/>
            <a:r>
              <a:t>equipo que resiste como tu"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365760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07792"/>
            <a:ext cx="1371600" cy="2743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10789920" cy="9601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54864" cy="96012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1E376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A9C0DE"/>
                </a:solidFill>
                <a:latin typeface="Calibri"/>
              </a:defRPr>
            </a:pPr>
            <a:r>
              <a:t>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1546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9C0DE"/>
                </a:solidFill>
                <a:latin typeface="Calibri"/>
              </a:defRPr>
            </a:pPr>
            <a:r>
              <a:t>CONQUISTA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49300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3DFE8"/>
                </a:solidFill>
                <a:latin typeface="Calibri"/>
              </a:defRPr>
            </a:pPr>
            <a:r>
              <a:t>No somos espectadores. Cada producto esta disenado para quienes se atreven a ir mas alla, a conquistar nuevos caminos y superar sus propios limites.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60520"/>
            <a:ext cx="10789920" cy="9601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54864" cy="96012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1E376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A9C0DE"/>
                </a:solidFill>
                <a:latin typeface="Calibri"/>
              </a:defRPr>
            </a:pPr>
            <a:r>
              <a:t>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062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9C0DE"/>
                </a:solidFill>
                <a:latin typeface="Calibri"/>
              </a:defRPr>
            </a:pPr>
            <a:r>
              <a:t>CADA SENDERO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4456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3DFE8"/>
                </a:solidFill>
                <a:latin typeface="Calibri"/>
              </a:defRPr>
            </a:pPr>
            <a:r>
              <a:t>No importa si es tu primera caminata o tu expedicion mas ambiciosa. Nuestro equipo se adapta a todos los terrenos y niveles de experiencia.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12080"/>
            <a:ext cx="10789920" cy="9601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212080"/>
            <a:ext cx="54864" cy="96012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1E376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A9C0DE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257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9C0DE"/>
                </a:solidFill>
                <a:latin typeface="Calibri"/>
              </a:defRPr>
            </a:pPr>
            <a:r>
              <a:t>EQUIPO QUE RESISTE COMO 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5961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3DFE8"/>
                </a:solidFill>
                <a:latin typeface="Calibri"/>
              </a:defRPr>
            </a:pPr>
            <a:r>
              <a:t>La montana no perdona. Por eso seleccionamos productos con la misma resistencia y determinacion que caracteriza a nuestros clientes.</a:t>
            </a:r>
          </a:p>
        </p:txBody>
      </p:sp>
      <p:sp>
        <p:nvSpPr>
          <p:cNvPr id="33" name="Oval 32"/>
          <p:cNvSpPr/>
          <p:nvPr/>
        </p:nvSpPr>
        <p:spPr>
          <a:xfrm>
            <a:off x="10058400" y="9144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22992" y="9144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87584" y="9144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52176" y="9144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0" y="1078992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22992" y="1078992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87584" y="1078992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52176" y="1078992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0" y="1243584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22992" y="1243584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87584" y="1243584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52176" y="1243584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58400" y="1408176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22992" y="1408176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87584" y="1408176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52176" y="1408176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58400" y="1572768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22992" y="1572768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87584" y="1572768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52176" y="1572768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58400" y="173736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222992" y="173736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87584" y="173736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552176" y="173736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A9C0DE"/>
                </a:solidFill>
                <a:latin typeface="Calibri"/>
              </a:defRPr>
            </a:pPr>
            <a:r>
              <a:t>Lobos de Montana  |  lobosdemontana.mx  |  Conquista cada sendero</a:t>
            </a:r>
          </a:p>
        </p:txBody>
      </p:sp>
      <p:pic>
        <p:nvPicPr>
          <p:cNvPr id="59" name="Picture 58" descr="logo-wo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6692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D141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376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04320" y="0"/>
            <a:ext cx="487375" cy="6858000"/>
          </a:xfrm>
          <a:prstGeom prst="rect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" y="9144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" y="22860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" y="36576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" y="50292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9C0DE"/>
                </a:solidFill>
                <a:latin typeface="Calibri Light"/>
              </a:defRPr>
            </a:pPr>
            <a:r>
              <a:t>QUIENES SOMOS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D3DFE8"/>
                </a:solidFill>
                <a:latin typeface="Calibri"/>
              </a:defRPr>
            </a:pPr>
            <a:r>
              <a:t>Somos Lobos de Montana, una tienda especializada en equipo de senderismo y montanismo. Nacimos de la pasion por explorar los senderos mas desafiantes y la necesidad de contar con equipo confiable que resista cada aventura.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548640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286000"/>
            <a:ext cx="5303520" cy="1828800"/>
          </a:xfrm>
          <a:prstGeom prst="roundRect">
            <a:avLst/>
          </a:prstGeom>
          <a:solidFill>
            <a:srgbClr val="1E376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286000"/>
            <a:ext cx="5303520" cy="54864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468880"/>
            <a:ext cx="457200" cy="457200"/>
          </a:xfrm>
          <a:prstGeom prst="ellipse">
            <a:avLst/>
          </a:prstGeom>
          <a:solidFill>
            <a:srgbClr val="A9C0D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8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9C0DE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9C0DE"/>
                </a:solidFill>
                <a:latin typeface="Calibri"/>
              </a:defRPr>
            </a:pPr>
            <a:r>
              <a:t>MISION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D3DFE8"/>
                </a:solidFill>
                <a:latin typeface="Calibri"/>
              </a:defRPr>
            </a:pPr>
            <a:r>
              <a:t>Equipar a cada aventurero con productos de alta calidad que garanticen seguridad, comodidad y rendimiento en cualquier terreno.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286000"/>
            <a:ext cx="5303520" cy="1828800"/>
          </a:xfrm>
          <a:prstGeom prst="roundRect">
            <a:avLst/>
          </a:prstGeom>
          <a:solidFill>
            <a:srgbClr val="1E376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286000"/>
            <a:ext cx="5303520" cy="54864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A9C0D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48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9C0DE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9C0DE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D3DFE8"/>
                </a:solidFill>
                <a:latin typeface="Calibri"/>
              </a:defRPr>
            </a:pPr>
            <a:r>
              <a:t>Ser la tienda lider en Mexico de equipo outdoor, reconocida por nuestra calidad, innovacion y compromiso con la comunidad aventurera.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9C0DE"/>
                </a:solidFill>
                <a:latin typeface="Calibri"/>
              </a:defRPr>
            </a:pPr>
            <a:r>
              <a:t>NUESTROS VALORES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800600"/>
            <a:ext cx="274320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937760"/>
            <a:ext cx="2651760" cy="1097280"/>
          </a:xfrm>
          <a:prstGeom prst="roundRect">
            <a:avLst/>
          </a:prstGeom>
          <a:solidFill>
            <a:srgbClr val="1E376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17319" y="5029200"/>
            <a:ext cx="502920" cy="5029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63040" y="5074920"/>
            <a:ext cx="411480" cy="4114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A9C0DE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3DFE8"/>
                </a:solidFill>
                <a:latin typeface="Calibri"/>
              </a:defRPr>
            </a:pPr>
            <a:r>
              <a:t>Calidad sin</a:t>
            </a:r>
            <a:br/>
            <a:r>
              <a:t>compromiso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937760"/>
            <a:ext cx="2651760" cy="1097280"/>
          </a:xfrm>
          <a:prstGeom prst="roundRect">
            <a:avLst/>
          </a:prstGeom>
          <a:solidFill>
            <a:srgbClr val="1E376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51960" y="5029200"/>
            <a:ext cx="502920" cy="5029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297680" y="5074920"/>
            <a:ext cx="411480" cy="4114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76B6B"/>
                </a:solidFill>
                <a:latin typeface="Calibri"/>
              </a:defRPr>
            </a:pPr>
            <a:r>
              <a:t>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3DFE8"/>
                </a:solidFill>
                <a:latin typeface="Calibri"/>
              </a:defRPr>
            </a:pPr>
            <a:r>
              <a:t>Pasion por</a:t>
            </a:r>
            <a:br/>
            <a:r>
              <a:t>la aventura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937760"/>
            <a:ext cx="2651760" cy="1097280"/>
          </a:xfrm>
          <a:prstGeom prst="roundRect">
            <a:avLst/>
          </a:prstGeom>
          <a:solidFill>
            <a:srgbClr val="1E376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86600" y="5029200"/>
            <a:ext cx="502920" cy="5029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32320" y="5074920"/>
            <a:ext cx="411480" cy="4114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D4A84B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3DFE8"/>
                </a:solidFill>
                <a:latin typeface="Calibri"/>
              </a:defRPr>
            </a:pPr>
            <a:r>
              <a:t>Resistencia y</a:t>
            </a:r>
            <a:br/>
            <a:r>
              <a:t>durabilidad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60" y="4937760"/>
            <a:ext cx="2651760" cy="1097280"/>
          </a:xfrm>
          <a:prstGeom prst="roundRect">
            <a:avLst/>
          </a:prstGeom>
          <a:solidFill>
            <a:srgbClr val="1E376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21240" y="5029200"/>
            <a:ext cx="502920" cy="5029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66960" y="5074920"/>
            <a:ext cx="411480" cy="4114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66960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BB37B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3DFE8"/>
                </a:solidFill>
                <a:latin typeface="Calibri"/>
              </a:defRPr>
            </a:pPr>
            <a:r>
              <a:t>Comunidad</a:t>
            </a:r>
            <a:br/>
            <a:r>
              <a:t>y confianza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A9C0DE"/>
                </a:solidFill>
                <a:latin typeface="Calibri"/>
              </a:defRPr>
            </a:pPr>
            <a:r>
              <a:t>Lobos de Montana  |  lobosdemontana.mx  |  Conquista cada sendero</a:t>
            </a:r>
          </a:p>
        </p:txBody>
      </p:sp>
      <p:pic>
        <p:nvPicPr>
          <p:cNvPr id="50" name="Picture 49" descr="logo-wo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6692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D141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376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04320" y="0"/>
            <a:ext cx="487375" cy="6858000"/>
          </a:xfrm>
          <a:prstGeom prst="rect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" y="9144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" y="22860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" y="36576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" y="50292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9C0DE"/>
                </a:solidFill>
                <a:latin typeface="Calibri Light"/>
              </a:defRPr>
            </a:pPr>
            <a:r>
              <a:t>NUESTROS PRODUCTOS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D3DFE8"/>
                </a:solidFill>
                <a:latin typeface="Calibri"/>
              </a:defRPr>
            </a:pPr>
            <a:r>
              <a:t>Equipo seleccionado por expertos para cada tipo de aventura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9C0DE"/>
                </a:solidFill>
                <a:latin typeface="Calibri"/>
              </a:defRPr>
            </a:pPr>
            <a:r>
              <a:t>PRODUCTOS DESTACADOS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1051560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011680"/>
            <a:ext cx="3566160" cy="1645920"/>
          </a:xfrm>
          <a:prstGeom prst="roundRect">
            <a:avLst/>
          </a:prstGeom>
          <a:solidFill>
            <a:srgbClr val="1E376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011680"/>
            <a:ext cx="3566160" cy="54864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51760" y="2148840"/>
            <a:ext cx="1280160" cy="320040"/>
          </a:xfrm>
          <a:prstGeom prst="roundRect">
            <a:avLst/>
          </a:prstGeom>
          <a:solidFill>
            <a:srgbClr val="A9C0D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$1,299 MXN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Botas de Cana Media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" y="2743200"/>
            <a:ext cx="3017520" cy="18288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2880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3DFE8"/>
                </a:solidFill>
                <a:latin typeface="Calibri"/>
              </a:defRPr>
            </a:pPr>
            <a:r>
              <a:t>Soporte y traccion para terrenos irregulares</a:t>
            </a:r>
          </a:p>
        </p:txBody>
      </p:sp>
      <p:sp>
        <p:nvSpPr>
          <p:cNvPr id="22" name="Oval 21"/>
          <p:cNvSpPr/>
          <p:nvPr/>
        </p:nvSpPr>
        <p:spPr>
          <a:xfrm>
            <a:off x="3566160" y="3108960"/>
            <a:ext cx="274320" cy="274320"/>
          </a:xfrm>
          <a:prstGeom prst="ellipse">
            <a:avLst/>
          </a:prstGeom>
          <a:solidFill>
            <a:srgbClr val="A9C0D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2011680"/>
            <a:ext cx="3566160" cy="1645920"/>
          </a:xfrm>
          <a:prstGeom prst="roundRect">
            <a:avLst/>
          </a:prstGeom>
          <a:solidFill>
            <a:srgbClr val="1E376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011680"/>
            <a:ext cx="356616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2148840"/>
            <a:ext cx="1280160" cy="320040"/>
          </a:xfrm>
          <a:prstGeom prst="roundRect">
            <a:avLst/>
          </a:prstGeom>
          <a:solidFill>
            <a:srgbClr val="D4A8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$899 MXN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Sudadera Impermeable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2743200"/>
            <a:ext cx="3017520" cy="18288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880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3DFE8"/>
                </a:solidFill>
                <a:latin typeface="Calibri"/>
              </a:defRPr>
            </a:pPr>
            <a:r>
              <a:t>Proteccion contra lluvia y viento</a:t>
            </a:r>
          </a:p>
        </p:txBody>
      </p:sp>
      <p:sp>
        <p:nvSpPr>
          <p:cNvPr id="30" name="Oval 29"/>
          <p:cNvSpPr/>
          <p:nvPr/>
        </p:nvSpPr>
        <p:spPr>
          <a:xfrm>
            <a:off x="7360920" y="3108960"/>
            <a:ext cx="274320" cy="274320"/>
          </a:xfrm>
          <a:prstGeom prst="ellipse">
            <a:avLst/>
          </a:prstGeom>
          <a:solidFill>
            <a:srgbClr val="D4A84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2011680"/>
            <a:ext cx="3566160" cy="1645920"/>
          </a:xfrm>
          <a:prstGeom prst="roundRect">
            <a:avLst/>
          </a:prstGeom>
          <a:solidFill>
            <a:srgbClr val="1E376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2011680"/>
            <a:ext cx="3566160" cy="54864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1280" y="2148840"/>
            <a:ext cx="1280160" cy="320040"/>
          </a:xfrm>
          <a:prstGeom prst="roundRect">
            <a:avLst/>
          </a:prstGeom>
          <a:solidFill>
            <a:srgbClr val="7BB37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$649 MXN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Bastones de Senderismo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743200"/>
            <a:ext cx="3017520" cy="18288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2880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3DFE8"/>
                </a:solidFill>
                <a:latin typeface="Calibri"/>
              </a:defRPr>
            </a:pPr>
            <a:r>
              <a:t>Ultraligeros y ajustables</a:t>
            </a:r>
          </a:p>
        </p:txBody>
      </p:sp>
      <p:sp>
        <p:nvSpPr>
          <p:cNvPr id="38" name="Oval 37"/>
          <p:cNvSpPr/>
          <p:nvPr/>
        </p:nvSpPr>
        <p:spPr>
          <a:xfrm>
            <a:off x="11155680" y="3108960"/>
            <a:ext cx="274320" cy="274320"/>
          </a:xfrm>
          <a:prstGeom prst="ellipse">
            <a:avLst/>
          </a:prstGeom>
          <a:solidFill>
            <a:srgbClr val="7BB37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9C0DE"/>
                </a:solidFill>
                <a:latin typeface="Calibri"/>
              </a:defRPr>
            </a:pPr>
            <a:r>
              <a:t>CATALOGO GENERAL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251960"/>
            <a:ext cx="1051560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4434840"/>
            <a:ext cx="1783080" cy="123444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434840"/>
            <a:ext cx="178308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5262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Mochila</a:t>
            </a:r>
            <a:br/>
            <a:r>
              <a:t>Hidratacion 15L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212080"/>
            <a:ext cx="1325880" cy="274320"/>
          </a:xfrm>
          <a:prstGeom prst="roundRect">
            <a:avLst/>
          </a:prstGeom>
          <a:solidFill>
            <a:srgbClr val="A9C0D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$1,499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68880" y="4434840"/>
            <a:ext cx="1783080" cy="123444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68880" y="4434840"/>
            <a:ext cx="178308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06040" y="45262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Gorra</a:t>
            </a:r>
            <a:br/>
            <a:r>
              <a:t>Proteccion UV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97480" y="5212080"/>
            <a:ext cx="1325880" cy="274320"/>
          </a:xfrm>
          <a:prstGeom prst="roundRect">
            <a:avLst/>
          </a:prstGeom>
          <a:solidFill>
            <a:srgbClr val="A9C0D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97480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$349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89120" y="4434840"/>
            <a:ext cx="1783080" cy="123444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89120" y="4434840"/>
            <a:ext cx="178308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80" y="45262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Pantalon</a:t>
            </a:r>
            <a:br/>
            <a:r>
              <a:t>Convertible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17720" y="5212080"/>
            <a:ext cx="1325880" cy="274320"/>
          </a:xfrm>
          <a:prstGeom prst="roundRect">
            <a:avLst/>
          </a:prstGeom>
          <a:solidFill>
            <a:srgbClr val="A9C0D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17720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$749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4434840"/>
            <a:ext cx="1783080" cy="123444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09360" y="4434840"/>
            <a:ext cx="178308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45262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Guantes</a:t>
            </a:r>
            <a:br/>
            <a:r>
              <a:t>Termicos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37960" y="5212080"/>
            <a:ext cx="1325880" cy="274320"/>
          </a:xfrm>
          <a:prstGeom prst="roundRect">
            <a:avLst/>
          </a:prstGeom>
          <a:solidFill>
            <a:srgbClr val="A9C0D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60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$499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4434840"/>
            <a:ext cx="1783080" cy="123444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0" y="4434840"/>
            <a:ext cx="178308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6760" y="45262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Cantimplora</a:t>
            </a:r>
            <a:br/>
            <a:r>
              <a:t>Termica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58200" y="5212080"/>
            <a:ext cx="1325880" cy="274320"/>
          </a:xfrm>
          <a:prstGeom prst="roundRect">
            <a:avLst/>
          </a:prstGeom>
          <a:solidFill>
            <a:srgbClr val="A9C0D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58200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$399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49840" y="4434840"/>
            <a:ext cx="1783080" cy="123444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149840" y="4434840"/>
            <a:ext cx="178308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87000" y="45262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Gafas</a:t>
            </a:r>
            <a:br/>
            <a:r>
              <a:t>Polarizadas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78440" y="5212080"/>
            <a:ext cx="1325880" cy="274320"/>
          </a:xfrm>
          <a:prstGeom prst="roundRect">
            <a:avLst/>
          </a:prstGeom>
          <a:solidFill>
            <a:srgbClr val="A9C0D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78440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$599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A9C0DE"/>
                </a:solidFill>
                <a:latin typeface="Calibri"/>
              </a:defRPr>
            </a:pPr>
            <a:r>
              <a:t>Lobos de Montana  |  lobosdemontana.mx  |  Conquista cada sendero</a:t>
            </a:r>
          </a:p>
        </p:txBody>
      </p:sp>
      <p:pic>
        <p:nvPicPr>
          <p:cNvPr id="73" name="Picture 72" descr="logo-wo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6692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D141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376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04320" y="0"/>
            <a:ext cx="487375" cy="6858000"/>
          </a:xfrm>
          <a:prstGeom prst="rect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" y="9144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" y="22860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" y="36576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" y="50292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9C0DE"/>
                </a:solidFill>
                <a:latin typeface="Calibri Light"/>
              </a:defRPr>
            </a:pPr>
            <a:r>
              <a:t>NUESTRO ALCANCE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D3DFE8"/>
                </a:solidFill>
                <a:latin typeface="Calibri"/>
              </a:defRPr>
            </a:pPr>
            <a:r>
              <a:t>Conectamos con aventureros en todo Mexico a traves de nuestra plataforma digital y presencia en los principales destinos de montana.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13716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08592" y="13716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73184" y="13716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37776" y="13716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02368" y="13716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13716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31552" y="13716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96144" y="1371600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15361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08592" y="15361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73184" y="15361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37776" y="15361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02368" y="15361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60" y="15361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31552" y="15361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96144" y="1536192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17007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08592" y="17007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73184" y="17007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37776" y="17007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02368" y="17007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66960" y="17007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31552" y="17007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96144" y="1700784"/>
            <a:ext cx="54864" cy="54864"/>
          </a:xfrm>
          <a:prstGeom prst="ellipse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2011680"/>
            <a:ext cx="3566160" cy="310896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011680"/>
            <a:ext cx="3566160" cy="54864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17319" y="2377440"/>
            <a:ext cx="1828800" cy="1828800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A9C0DE"/>
                </a:solidFill>
                <a:latin typeface="Calibri Light"/>
              </a:defRPr>
            </a:pPr>
            <a:r>
              <a:t>500+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3840480"/>
            <a:ext cx="2651760" cy="27432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4023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Productos</a:t>
            </a:r>
            <a:br/>
            <a:r>
              <a:t>en catalogo</a:t>
            </a:r>
          </a:p>
        </p:txBody>
      </p:sp>
      <p:sp>
        <p:nvSpPr>
          <p:cNvPr id="43" name="Oval 42"/>
          <p:cNvSpPr/>
          <p:nvPr/>
        </p:nvSpPr>
        <p:spPr>
          <a:xfrm>
            <a:off x="1737360" y="4663440"/>
            <a:ext cx="54864" cy="54864"/>
          </a:xfrm>
          <a:prstGeom prst="ellipse">
            <a:avLst/>
          </a:prstGeom>
          <a:solidFill>
            <a:srgbClr val="A9C0D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920240" y="4663440"/>
            <a:ext cx="54864" cy="54864"/>
          </a:xfrm>
          <a:prstGeom prst="ellipse">
            <a:avLst/>
          </a:prstGeom>
          <a:solidFill>
            <a:srgbClr val="A9C0D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03120" y="4663440"/>
            <a:ext cx="54864" cy="54864"/>
          </a:xfrm>
          <a:prstGeom prst="ellipse">
            <a:avLst/>
          </a:prstGeom>
          <a:solidFill>
            <a:srgbClr val="A9C0D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37360" y="4846320"/>
            <a:ext cx="54864" cy="54864"/>
          </a:xfrm>
          <a:prstGeom prst="ellipse">
            <a:avLst/>
          </a:prstGeom>
          <a:solidFill>
            <a:srgbClr val="A9C0D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920240" y="4846320"/>
            <a:ext cx="54864" cy="54864"/>
          </a:xfrm>
          <a:prstGeom prst="ellipse">
            <a:avLst/>
          </a:prstGeom>
          <a:solidFill>
            <a:srgbClr val="A9C0D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120" y="4846320"/>
            <a:ext cx="54864" cy="54864"/>
          </a:xfrm>
          <a:prstGeom prst="ellipse">
            <a:avLst/>
          </a:prstGeom>
          <a:solidFill>
            <a:srgbClr val="A9C0D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43400" y="2011680"/>
            <a:ext cx="3566160" cy="310896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400" y="2011680"/>
            <a:ext cx="356616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12080" y="2377440"/>
            <a:ext cx="1828800" cy="1828800"/>
          </a:xfrm>
          <a:prstGeom prst="ellipse">
            <a:avLst/>
          </a:prstGeom>
          <a:solidFill>
            <a:srgbClr val="D4A84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D4A84B"/>
                </a:solidFill>
                <a:latin typeface="Calibri Light"/>
              </a:defRPr>
            </a:pPr>
            <a:r>
              <a:t>10K+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00600" y="3840480"/>
            <a:ext cx="2651760" cy="2743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4023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Clientes</a:t>
            </a:r>
            <a:br/>
            <a:r>
              <a:t>satisfechos</a:t>
            </a:r>
          </a:p>
        </p:txBody>
      </p:sp>
      <p:sp>
        <p:nvSpPr>
          <p:cNvPr id="55" name="Oval 54"/>
          <p:cNvSpPr/>
          <p:nvPr/>
        </p:nvSpPr>
        <p:spPr>
          <a:xfrm>
            <a:off x="5532120" y="4663440"/>
            <a:ext cx="54864" cy="54864"/>
          </a:xfrm>
          <a:prstGeom prst="ellipse">
            <a:avLst/>
          </a:prstGeom>
          <a:solidFill>
            <a:srgbClr val="D4A8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15000" y="4663440"/>
            <a:ext cx="54864" cy="54864"/>
          </a:xfrm>
          <a:prstGeom prst="ellipse">
            <a:avLst/>
          </a:prstGeom>
          <a:solidFill>
            <a:srgbClr val="D4A8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97880" y="4663440"/>
            <a:ext cx="54864" cy="54864"/>
          </a:xfrm>
          <a:prstGeom prst="ellipse">
            <a:avLst/>
          </a:prstGeom>
          <a:solidFill>
            <a:srgbClr val="D4A8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532120" y="4846320"/>
            <a:ext cx="54864" cy="54864"/>
          </a:xfrm>
          <a:prstGeom prst="ellipse">
            <a:avLst/>
          </a:prstGeom>
          <a:solidFill>
            <a:srgbClr val="D4A8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715000" y="4846320"/>
            <a:ext cx="54864" cy="54864"/>
          </a:xfrm>
          <a:prstGeom prst="ellipse">
            <a:avLst/>
          </a:prstGeom>
          <a:solidFill>
            <a:srgbClr val="D4A8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97880" y="4846320"/>
            <a:ext cx="54864" cy="54864"/>
          </a:xfrm>
          <a:prstGeom prst="ellipse">
            <a:avLst/>
          </a:prstGeom>
          <a:solidFill>
            <a:srgbClr val="D4A84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38160" y="2011680"/>
            <a:ext cx="3566160" cy="310896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38160" y="2011680"/>
            <a:ext cx="3566160" cy="54864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006840" y="2377440"/>
            <a:ext cx="1828800" cy="1828800"/>
          </a:xfrm>
          <a:prstGeom prst="ellipse">
            <a:avLst/>
          </a:prstGeom>
          <a:solidFill>
            <a:srgbClr val="7BB3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7BB37B"/>
                </a:solidFill>
                <a:latin typeface="Calibri Light"/>
              </a:defRPr>
            </a:pPr>
            <a:r>
              <a:t>32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95360" y="3840480"/>
            <a:ext cx="2651760" cy="27432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4023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Estados</a:t>
            </a:r>
            <a:br/>
            <a:r>
              <a:t>alcanzados</a:t>
            </a:r>
          </a:p>
        </p:txBody>
      </p:sp>
      <p:sp>
        <p:nvSpPr>
          <p:cNvPr id="67" name="Oval 66"/>
          <p:cNvSpPr/>
          <p:nvPr/>
        </p:nvSpPr>
        <p:spPr>
          <a:xfrm>
            <a:off x="9326880" y="4663440"/>
            <a:ext cx="54864" cy="54864"/>
          </a:xfrm>
          <a:prstGeom prst="ellipse">
            <a:avLst/>
          </a:prstGeom>
          <a:solidFill>
            <a:srgbClr val="7BB37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509760" y="4663440"/>
            <a:ext cx="54864" cy="54864"/>
          </a:xfrm>
          <a:prstGeom prst="ellipse">
            <a:avLst/>
          </a:prstGeom>
          <a:solidFill>
            <a:srgbClr val="7BB37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692640" y="4663440"/>
            <a:ext cx="54864" cy="54864"/>
          </a:xfrm>
          <a:prstGeom prst="ellipse">
            <a:avLst/>
          </a:prstGeom>
          <a:solidFill>
            <a:srgbClr val="7BB37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326880" y="4846320"/>
            <a:ext cx="54864" cy="54864"/>
          </a:xfrm>
          <a:prstGeom prst="ellipse">
            <a:avLst/>
          </a:prstGeom>
          <a:solidFill>
            <a:srgbClr val="7BB37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09760" y="4846320"/>
            <a:ext cx="54864" cy="54864"/>
          </a:xfrm>
          <a:prstGeom prst="ellipse">
            <a:avLst/>
          </a:prstGeom>
          <a:solidFill>
            <a:srgbClr val="7BB37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692640" y="4846320"/>
            <a:ext cx="54864" cy="54864"/>
          </a:xfrm>
          <a:prstGeom prst="ellipse">
            <a:avLst/>
          </a:prstGeom>
          <a:solidFill>
            <a:srgbClr val="7BB37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371600" y="5486400"/>
            <a:ext cx="9418320" cy="548640"/>
          </a:xfrm>
          <a:prstGeom prst="roundRect">
            <a:avLst/>
          </a:prstGeom>
          <a:solidFill>
            <a:srgbClr val="1E376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D3DFE8"/>
                </a:solidFill>
                <a:latin typeface="Calibri"/>
              </a:defRPr>
            </a:pPr>
            <a:r>
              <a:t>⛰  lobosdemontana.mx  |  Tiendas en CDMX, Monterrey y Guadalajara  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A9C0DE"/>
                </a:solidFill>
                <a:latin typeface="Calibri"/>
              </a:defRPr>
            </a:pPr>
            <a:r>
              <a:t>Lobos de Montana  |  lobosdemontana.mx  |  Conquista cada sendero</a:t>
            </a:r>
          </a:p>
        </p:txBody>
      </p:sp>
      <p:pic>
        <p:nvPicPr>
          <p:cNvPr id="77" name="Picture 76" descr="logo-wo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6692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E376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E376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E376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2743200" cy="2743200"/>
          </a:xfrm>
          <a:prstGeom prst="ellipse">
            <a:avLst/>
          </a:prstGeom>
          <a:solidFill>
            <a:srgbClr val="1E376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4572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4572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4572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4572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4572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6217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6217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6384" y="6217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0976" y="6217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" y="6217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863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792" y="7863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" y="7863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" y="7863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5568" y="7863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54864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22992" y="54864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87584" y="54864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52176" y="54864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16768" y="5486400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0" y="56509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22992" y="56509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87584" y="56509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52176" y="56509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16768" y="5650992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0" y="58155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22992" y="58155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87584" y="58155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52176" y="58155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16768" y="5815584"/>
            <a:ext cx="54864" cy="54864"/>
          </a:xfrm>
          <a:prstGeom prst="ellipse">
            <a:avLst/>
          </a:prstGeom>
          <a:solidFill>
            <a:srgbClr val="A9C0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ogo-wo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"/>
            <a:ext cx="2286000" cy="22860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743200" y="2651760"/>
            <a:ext cx="667512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2724912"/>
            <a:ext cx="2651760" cy="2743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 Light"/>
              </a:defRPr>
            </a:pPr>
            <a:r>
              <a:t>LOBOS DE MONTANA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023360"/>
            <a:ext cx="667512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54880" y="4096512"/>
            <a:ext cx="2651760" cy="2743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A9C0DE"/>
                </a:solidFill>
                <a:latin typeface="Calibri"/>
              </a:defRPr>
            </a:pPr>
            <a:r>
              <a:t>Conquista cada sendero — equipo que resiste como tu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4846320"/>
            <a:ext cx="6309360" cy="1280160"/>
          </a:xfrm>
          <a:prstGeom prst="roundRect">
            <a:avLst/>
          </a:prstGeom>
          <a:solidFill>
            <a:srgbClr val="1E376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26080" y="4846320"/>
            <a:ext cx="6309360" cy="54864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0" y="49377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9C0DE"/>
                </a:solidFill>
                <a:latin typeface="Calibri"/>
              </a:defRPr>
            </a:pPr>
            <a:r>
              <a:t>CONTACTO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2578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D3DFE8"/>
                </a:solidFill>
                <a:latin typeface="Calibri"/>
              </a:defRPr>
            </a:pPr>
            <a:r>
              <a:t>wolves@tienda.com  |  +52 55 1234 5678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532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lobosdemontana.mx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D3DFE8"/>
                </a:solidFill>
                <a:latin typeface="Calibri"/>
              </a:defRPr>
            </a:pPr>
            <a:r>
              <a:t>Gracias por acompanarnos en esta aventura!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A9C0DE"/>
                </a:solidFill>
                <a:latin typeface="Calibri"/>
              </a:defRPr>
            </a:pPr>
            <a:r>
              <a:t>Lobos de Montana  |  lobosdemontana.mx  |  Conquista cada sendero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D141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376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04320" y="0"/>
            <a:ext cx="487375" cy="6858000"/>
          </a:xfrm>
          <a:prstGeom prst="rect">
            <a:avLst/>
          </a:prstGeom>
          <a:solidFill>
            <a:srgbClr val="A9C0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" y="9144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" y="22860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" y="36576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" y="5029200"/>
            <a:ext cx="82296" cy="82296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9C0DE"/>
                </a:solidFill>
                <a:latin typeface="Calibri Light"/>
              </a:defRPr>
            </a:pPr>
            <a:r>
              <a:t>EQUIPO DE DESARROLLO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D3DFE8"/>
                </a:solidFill>
                <a:latin typeface="Calibri"/>
              </a:defRPr>
            </a:pPr>
            <a:r>
              <a:t>Las personas detras de Lobos de Montana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417320"/>
            <a:ext cx="4572000" cy="36576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737360"/>
            <a:ext cx="3474720" cy="11887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737360"/>
            <a:ext cx="54864" cy="118872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1965960"/>
            <a:ext cx="731520" cy="7315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2011679"/>
            <a:ext cx="640080" cy="6400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057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A9C0DE"/>
                </a:solidFill>
                <a:latin typeface="Calibri"/>
              </a:defRPr>
            </a:pPr>
            <a:r>
              <a:t>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20116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Alejandro Gonzalez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423160"/>
            <a:ext cx="1828800" cy="18288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19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D3DFE8"/>
                </a:solidFill>
                <a:latin typeface="Calibri"/>
              </a:defRPr>
            </a:pPr>
            <a:r>
              <a:t>Desarrollador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737360"/>
            <a:ext cx="3474720" cy="11887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737360"/>
            <a:ext cx="54864" cy="118872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0" y="1965960"/>
            <a:ext cx="731520" cy="7315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17720" y="2011679"/>
            <a:ext cx="640080" cy="6400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057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4A84B"/>
                </a:solidFill>
                <a:latin typeface="Calibri"/>
              </a:defRPr>
            </a:pPr>
            <a:r>
              <a:t>EG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0116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Erick Garcia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423160"/>
            <a:ext cx="1828800" cy="18288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D3DFE8"/>
                </a:solidFill>
                <a:latin typeface="Calibri"/>
              </a:defRPr>
            </a:pPr>
            <a:r>
              <a:t>Desarrollador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737360"/>
            <a:ext cx="3474720" cy="11887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737360"/>
            <a:ext cx="54864" cy="1188720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66760" y="1965960"/>
            <a:ext cx="731520" cy="7315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0" y="2011679"/>
            <a:ext cx="640080" cy="6400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057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7BB37B"/>
                </a:solidFill>
                <a:latin typeface="Calibri"/>
              </a:defRPr>
            </a:pPr>
            <a:r>
              <a:t>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0116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Daniel Aguilar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2423160"/>
            <a:ext cx="1828800" cy="18288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D3DFE8"/>
                </a:solidFill>
                <a:latin typeface="Calibri"/>
              </a:defRPr>
            </a:pPr>
            <a:r>
              <a:t>Desarrollador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154680"/>
            <a:ext cx="3474720" cy="11887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3154680"/>
            <a:ext cx="54864" cy="118872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7240" y="3383280"/>
            <a:ext cx="731520" cy="7315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2959" y="3429000"/>
            <a:ext cx="640080" cy="6400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3474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A9C0DE"/>
                </a:solidFill>
                <a:latin typeface="Calibri"/>
              </a:defRPr>
            </a:pPr>
            <a:r>
              <a:t>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19" y="3429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Alejandro Ruiz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19" y="3840480"/>
            <a:ext cx="1828800" cy="18288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19" y="3886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D3DFE8"/>
                </a:solidFill>
                <a:latin typeface="Calibri"/>
              </a:defRPr>
            </a:pPr>
            <a:r>
              <a:t>Desarrollador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3154680"/>
            <a:ext cx="3474720" cy="11887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43400" y="3154680"/>
            <a:ext cx="54864" cy="118872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72000" y="3383280"/>
            <a:ext cx="731520" cy="7315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17720" y="3429000"/>
            <a:ext cx="640080" cy="6400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3474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4A84B"/>
                </a:solidFill>
                <a:latin typeface="Calibri"/>
              </a:defRPr>
            </a:pPr>
            <a:r>
              <a:t>AA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3429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Angel Arturo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3840480"/>
            <a:ext cx="1828800" cy="18288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40680" y="3886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D3DFE8"/>
                </a:solidFill>
                <a:latin typeface="Calibri"/>
              </a:defRPr>
            </a:pPr>
            <a:r>
              <a:t>Desarrollador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38160" y="3154680"/>
            <a:ext cx="3474720" cy="11887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8160" y="3154680"/>
            <a:ext cx="54864" cy="1188720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66760" y="3383280"/>
            <a:ext cx="731520" cy="7315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12480" y="3429000"/>
            <a:ext cx="640080" cy="6400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3474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7BB37B"/>
                </a:solidFill>
                <a:latin typeface="Calibri"/>
              </a:defRPr>
            </a:pPr>
            <a:r>
              <a:t>FO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3429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Francisco Ortiz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3840480"/>
            <a:ext cx="1828800" cy="18288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5440" y="3886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D3DFE8"/>
                </a:solidFill>
                <a:latin typeface="Calibri"/>
              </a:defRPr>
            </a:pPr>
            <a:r>
              <a:t>Desarrollador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4572000"/>
            <a:ext cx="3474720" cy="11887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" y="4572000"/>
            <a:ext cx="54864" cy="1188720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77240" y="4800600"/>
            <a:ext cx="731520" cy="7315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2959" y="4846320"/>
            <a:ext cx="640080" cy="6400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59" y="4892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A9C0DE"/>
                </a:solidFill>
                <a:latin typeface="Calibri"/>
              </a:defRPr>
            </a:pPr>
            <a:r>
              <a:t>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19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Chris Hernandez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45919" y="5257800"/>
            <a:ext cx="1828800" cy="18288"/>
          </a:xfrm>
          <a:prstGeom prst="rect">
            <a:avLst/>
          </a:prstGeom>
          <a:solidFill>
            <a:srgbClr val="A9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45919" y="5303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D3DFE8"/>
                </a:solidFill>
                <a:latin typeface="Calibri"/>
              </a:defRPr>
            </a:pPr>
            <a:r>
              <a:t>Desarrollador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43400" y="4572000"/>
            <a:ext cx="3474720" cy="11887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43400" y="4572000"/>
            <a:ext cx="54864" cy="118872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572000" y="4800600"/>
            <a:ext cx="731520" cy="7315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617720" y="4846320"/>
            <a:ext cx="640080" cy="6400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17720" y="4892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4A84B"/>
                </a:solidFill>
                <a:latin typeface="Calibri"/>
              </a:defRPr>
            </a:pPr>
            <a:r>
              <a:t>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406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Edwin Sanchez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0680" y="5257800"/>
            <a:ext cx="1828800" cy="18288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40680" y="5303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D3DFE8"/>
                </a:solidFill>
                <a:latin typeface="Calibri"/>
              </a:defRPr>
            </a:pPr>
            <a:r>
              <a:t>Desarrollador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38160" y="4572000"/>
            <a:ext cx="3474720" cy="1188720"/>
          </a:xfrm>
          <a:prstGeom prst="roundRect">
            <a:avLst/>
          </a:prstGeom>
          <a:solidFill>
            <a:srgbClr val="1E376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138160" y="4572000"/>
            <a:ext cx="54864" cy="1188720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366760" y="4800600"/>
            <a:ext cx="731520" cy="731520"/>
          </a:xfrm>
          <a:prstGeom prst="ellipse">
            <a:avLst/>
          </a:prstGeom>
          <a:solidFill>
            <a:srgbClr val="161F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412480" y="4846320"/>
            <a:ext cx="640080" cy="640080"/>
          </a:xfrm>
          <a:prstGeom prst="ellipse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12480" y="4892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7BB37B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354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Diego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35440" y="5257800"/>
            <a:ext cx="1828800" cy="18288"/>
          </a:xfrm>
          <a:prstGeom prst="rect">
            <a:avLst/>
          </a:prstGeom>
          <a:solidFill>
            <a:srgbClr val="7B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35440" y="5303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D3DFE8"/>
                </a:solidFill>
                <a:latin typeface="Calibri"/>
              </a:defRPr>
            </a:pPr>
            <a:r>
              <a:t>Desarrollador</a:t>
            </a:r>
          </a:p>
        </p:txBody>
      </p:sp>
      <p:sp>
        <p:nvSpPr>
          <p:cNvPr id="86" name="Oval 85"/>
          <p:cNvSpPr/>
          <p:nvPr/>
        </p:nvSpPr>
        <p:spPr>
          <a:xfrm>
            <a:off x="5029200" y="576072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212080" y="576072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394960" y="576072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577840" y="576072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760720" y="576072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943600" y="576072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126480" y="576072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09360" y="576072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029200" y="59436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212080" y="59436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94960" y="59436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577840" y="59436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760720" y="59436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943600" y="59436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126480" y="59436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309360" y="5943600"/>
            <a:ext cx="54864" cy="54864"/>
          </a:xfrm>
          <a:prstGeom prst="ellipse">
            <a:avLst/>
          </a:prstGeom>
          <a:solidFill>
            <a:srgbClr val="A9C0D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A9C0DE"/>
                </a:solidFill>
                <a:latin typeface="Calibri"/>
              </a:defRPr>
            </a:pPr>
            <a:r>
              <a:t>★  Un equipo comprometido con la aventura y la tecnologia  ★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A9C0DE"/>
                </a:solidFill>
                <a:latin typeface="Calibri"/>
              </a:defRPr>
            </a:pPr>
            <a:r>
              <a:t>Lobos de Montana  |  lobosdemontana.mx  |  Conquista cada sendero</a:t>
            </a:r>
          </a:p>
        </p:txBody>
      </p:sp>
      <p:pic>
        <p:nvPicPr>
          <p:cNvPr id="105" name="Picture 104" descr="logo-wo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6692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